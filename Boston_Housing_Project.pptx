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2" r:id="rId10"/>
    <p:sldId id="264" r:id="rId11"/>
    <p:sldId id="266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46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hyperlink" Target="https://bostonhouseprediction-xcvrykfektvw8acxuarrhq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BOSTON HOUSING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PREDICTOR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end-to-end machine learning project that estimates a home's market value from its property and neighborhood characteristics — from raw data, to a trained model, to a live interactive web app.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8064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06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Moaz Riad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52560" y="1097280"/>
            <a:ext cx="2743200" cy="2743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9" name="Image 0" descr="ico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874520"/>
            <a:ext cx="1188720" cy="1188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332720" y="3749040"/>
            <a:ext cx="1463040" cy="1463040"/>
          </a:xfrm>
          <a:prstGeom prst="ellipse">
            <a:avLst/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pic>
        <p:nvPicPr>
          <p:cNvPr id="11" name="Image 1" descr="icon_tre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1605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THIS PROJECT DOES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goal is simple: given information about a house and its neighborhood — how many rooms it has, the crime rate nearby, the pupil-teacher ratio at local schools, and more — predict what the home is worth. It turns a classic statistics dataset into a full, working data-science pipeline: cleaning data, engineering features, training a model, evaluating it honestly, and shipping it as a tool anyone can use in their browser.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434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0.89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" y="5074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ACCURACY (R²)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971800" y="42976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4434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$2,400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108960" y="5074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AVG. PREDICTION ERROR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03520" y="429768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0680" y="4434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440680" y="50749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ENGINEERED FEATURES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80960" y="1143000"/>
            <a:ext cx="3840480" cy="4572000"/>
          </a:xfrm>
          <a:prstGeom prst="roundRect">
            <a:avLst>
              <a:gd name="adj" fmla="val 3333"/>
            </a:avLst>
          </a:prstGeom>
          <a:solidFill>
            <a:srgbClr val="EEF3FE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PIPELINE, IN SHORT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55280" y="1874520"/>
            <a:ext cx="292608" cy="29260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0" name="Text 17"/>
          <p:cNvSpPr/>
          <p:nvPr/>
        </p:nvSpPr>
        <p:spPr>
          <a:xfrm>
            <a:off x="795528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66760" y="1847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Collect &amp; clean the data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955280" y="2514600"/>
            <a:ext cx="292608" cy="29260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3" name="Text 20"/>
          <p:cNvSpPr/>
          <p:nvPr/>
        </p:nvSpPr>
        <p:spPr>
          <a:xfrm>
            <a:off x="795528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6676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Engineer new features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955280" y="3154680"/>
            <a:ext cx="292608" cy="29260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6" name="Text 23"/>
          <p:cNvSpPr/>
          <p:nvPr/>
        </p:nvSpPr>
        <p:spPr>
          <a:xfrm>
            <a:off x="795528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66760" y="3127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 &amp; compare LR vs GB models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955280" y="3794760"/>
            <a:ext cx="292608" cy="29260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9" name="Text 26"/>
          <p:cNvSpPr/>
          <p:nvPr/>
        </p:nvSpPr>
        <p:spPr>
          <a:xfrm>
            <a:off x="795528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366760" y="3767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Evaluate on held-out data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955280" y="4434840"/>
            <a:ext cx="292608" cy="29260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32" name="Text 29"/>
          <p:cNvSpPr/>
          <p:nvPr/>
        </p:nvSpPr>
        <p:spPr>
          <a:xfrm>
            <a:off x="7955280" y="4434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366760" y="4407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 as a Streamlit web app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955280" y="5074920"/>
            <a:ext cx="292608" cy="29260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35" name="Text 32"/>
          <p:cNvSpPr/>
          <p:nvPr/>
        </p:nvSpPr>
        <p:spPr>
          <a:xfrm>
            <a:off x="7955280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366760" y="50474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Publish on GitHub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· THE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BOSTON HOUSING DATASET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classic dataset from the 1970s covering 506 census tracts around Boston, each with 13 features describing the property and its surroundings, plus MEDV — the median home value we're trying to predict.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081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474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Average rooms per dwelling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2971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3081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LSTAT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3474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% of population classed as lower status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971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081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3474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Per-capita crime rate by town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32520" y="29718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30815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69680" y="34747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Distance to Boston employment centers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572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PTRATIO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7240" y="5074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Pupil-teacher ratio by town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37560" y="4572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NOX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74720" y="5074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Nitric oxide concentration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35040" y="4572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TAX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172200" y="5074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Property tax rate per $10,000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32520" y="45720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6968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869680" y="5074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Borders the Charles River (yes/no)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60807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+ 5 more features (ZN, INDUS, AGE, RAD, B) rounding out the full 13-column profile of each tract.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· PREPROCESSING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CLEANING THE DATA BEFORE MODELING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459736"/>
            <a:ext cx="548640" cy="54864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459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25856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capped prices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2258568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Rows where MEDV = 50 are a known artifact of the original survey (values were top-coded), so they're dropped to avoid teaching the model a fake ceiling.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502152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813048"/>
            <a:ext cx="548640" cy="54864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91640" y="3611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Log-transform skewed columns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61188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CRIM, DIS, and LSTAT are heavily right-skewed. Applying log1p() compresses their long tails so the model can learn from them more effectively.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855464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91640" y="49651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into train / test sets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63440" y="4965192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80% of the data trains the model; the remaining 20% is held out purely for honest evaluation, using a fixed random_state for reproducibility.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· FEATURE ENGINEERING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NEW FEATURES, HAND-CRAFTED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Beyond the 13 original columns, three interaction features were engineered to help the model capture relationships the raw columns miss on their own.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3108960"/>
            <a:ext cx="2971800" cy="502920"/>
          </a:xfrm>
          <a:prstGeom prst="roundRect">
            <a:avLst>
              <a:gd name="adj" fmla="val 18182"/>
            </a:avLst>
          </a:prstGeom>
          <a:solidFill>
            <a:srgbClr val="3E7BF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× LSTAT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RM_LSTAT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Combines room count with neighborhood status — a spacious home in a lower-status area prices differently than the two facts would suggest alone.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89120" y="2834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3108960"/>
            <a:ext cx="2971800" cy="502920"/>
          </a:xfrm>
          <a:prstGeom prst="roundRect">
            <a:avLst>
              <a:gd name="adj" fmla="val 18182"/>
            </a:avLst>
          </a:prstGeom>
          <a:solidFill>
            <a:srgbClr val="3E7BFA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 ÷ RM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TAX_per_room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63440" y="420624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Normalizes tax burden by house size, giving a per-room tax rate rather than a flat neighborhood number.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28346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0" y="3108960"/>
            <a:ext cx="2971800" cy="502920"/>
          </a:xfrm>
          <a:prstGeom prst="roundRect">
            <a:avLst>
              <a:gd name="adj" fmla="val 18182"/>
            </a:avLst>
          </a:prstGeom>
          <a:solidFill>
            <a:srgbClr val="3E7BFA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 ÷ RAD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1248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DIS_RAD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12480" y="4206240"/>
            <a:ext cx="2971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Balances distance from employment centers against highway accessibility — being far away matters less if access is easy.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· MODEL TRAINING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GRADIENT BOOSTING REGRESSOR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final model is a scikit-learn GradientBoostingRegressor — an ensemble of shallow decision trees, each one correcting the errors of the last. It's a strong, reliable choice for structured tabular data like this.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0" y="3429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300 trees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050792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0507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40507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(shallow, to avoid overfitting)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672584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6725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46725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0.05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294376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2943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17520" y="52943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42 (reproducible results)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498080" y="210312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13182B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train_model.py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2697480"/>
            <a:ext cx="35661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df[df.MEDV &lt; 50]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df.CRIM = log1p(df.CRIM)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df.DIS  = log1p(df.DIS)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df.LSTAT = log1p(df.LSTAT)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GradientBoosting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Regressor(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n_estimators=300,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max_depth=3,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learning_rate=0.05,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· MODEL COMPARISON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CHOOSING THE BETTER MODEL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settling on Gradient Boosting, a Linear Regression baseline was trained on the same data. It's fast and interpretable, but assumes straight-line relationships — Gradient Boosting captures the curves the data actually has, and that's why it won out.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4290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(test set)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0" y="34290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Gradient Boosting: 0.89  vs  Linear Reg: 0.74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050792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0507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(error)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405079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Gradient Boosting: ~$2,400  vs  Linear Reg: ~$3,600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672584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6725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Non-linear fit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46725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Only Gradient Boosting captures curved relationships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294376"/>
            <a:ext cx="54864" cy="5029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2943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pick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17520" y="52943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Gradient Boosting — selected as the final model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498080" y="2103120"/>
            <a:ext cx="4023360" cy="3794760"/>
          </a:xfrm>
          <a:prstGeom prst="roundRect">
            <a:avLst>
              <a:gd name="adj" fmla="val 2892"/>
            </a:avLst>
          </a:prstGeom>
          <a:solidFill>
            <a:srgbClr val="13182B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compare_models.py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2697480"/>
            <a:ext cx="35661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LinearRegression()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 = GradientBoosting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Regressor(n_estimators=300,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max_depth=3,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learning_rate=0.05,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gb.fit(x_train, y_train)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r2_score(lr) = 0.74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r2_score(gb) = 0.89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mae(gb) &lt; mae(lr)  -&gt; GB wins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· THE WEB APP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685800" cy="6858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1247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INTERACTIVE STREAMLIT APP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trained model is wrapped in a Streamlit app where anyone can move sliders for rooms, crime rate, distance, taxes and more, then get an instant predicted price with a live gauge and a breakdown of what drove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80160" y="2423160"/>
            <a:ext cx="9601200" cy="4023360"/>
          </a:xfrm>
          <a:prstGeom prst="roundRect">
            <a:avLst>
              <a:gd name="adj" fmla="val 1818"/>
            </a:avLst>
          </a:prstGeom>
          <a:solidFill>
            <a:srgbClr val="F7F9FE"/>
          </a:solidFill>
          <a:ln w="19050">
            <a:solidFill>
              <a:srgbClr val="E2E8F5"/>
            </a:solidFill>
            <a:prstDash val="solid"/>
          </a:ln>
        </p:spPr>
      </p:sp>
      <p:pic>
        <p:nvPicPr>
          <p:cNvPr id="9" name="Image 1" descr="1786223999687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3040" y="2560320"/>
            <a:ext cx="9235440" cy="3749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· MODEL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DROVE EACH PREDICTION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 held-out test data, the model reaches an R² of about 0.89 with an average error near $2,400. The gauge and feature-importance chart below — pulled straight from the live app — show a real prediction and the factors that shaped it. LSTAT (neighborhood status) and RM (room count) dominate, matching real-world housing intuition.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789920" cy="3383280"/>
          </a:xfrm>
          <a:prstGeom prst="roundRect">
            <a:avLst>
              <a:gd name="adj" fmla="val 2703"/>
            </a:avLst>
          </a:prstGeom>
          <a:solidFill>
            <a:srgbClr val="13182B"/>
          </a:solidFill>
          <a:ln/>
        </p:spPr>
      </p:sp>
      <p:pic>
        <p:nvPicPr>
          <p:cNvPr id="9" name="Image 1" descr="1786223974223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3246120"/>
            <a:ext cx="10332720" cy="3017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· PIPELINE &amp; STACK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5" name="Image 0" descr="icon_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29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430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RAW DATA TO LIVE APP</a:t>
            </a:r>
            <a:endParaRPr lang="en-US" sz="2500" dirty="0"/>
          </a:p>
        </p:txBody>
      </p:sp>
      <p:sp>
        <p:nvSpPr>
          <p:cNvPr id="100" name="Shape 100"/>
          <p:cNvSpPr/>
          <p:nvPr/>
        </p:nvSpPr>
        <p:spPr>
          <a:xfrm>
            <a:off x="640080" y="2468880"/>
            <a:ext cx="1633728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01" name="Text 101"/>
          <p:cNvSpPr/>
          <p:nvPr/>
        </p:nvSpPr>
        <p:spPr>
          <a:xfrm>
            <a:off x="713232" y="2468880"/>
            <a:ext cx="14874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boston.csv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(raw data)</a:t>
            </a:r>
            <a:endParaRPr lang="en-US" sz="1150" dirty="0"/>
          </a:p>
        </p:txBody>
      </p:sp>
      <p:sp>
        <p:nvSpPr>
          <p:cNvPr id="102" name="Text 102"/>
          <p:cNvSpPr/>
          <p:nvPr/>
        </p:nvSpPr>
        <p:spPr>
          <a:xfrm>
            <a:off x="2273808" y="2468880"/>
            <a:ext cx="274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03" name="Shape 103"/>
          <p:cNvSpPr/>
          <p:nvPr/>
        </p:nvSpPr>
        <p:spPr>
          <a:xfrm>
            <a:off x="2548128" y="2468880"/>
            <a:ext cx="1633728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04" name="Text 104"/>
          <p:cNvSpPr/>
          <p:nvPr/>
        </p:nvSpPr>
        <p:spPr>
          <a:xfrm>
            <a:off x="2621280" y="2468880"/>
            <a:ext cx="14874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train_model.py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(clean + train)</a:t>
            </a:r>
            <a:endParaRPr lang="en-US" sz="1150" dirty="0"/>
          </a:p>
        </p:txBody>
      </p:sp>
      <p:sp>
        <p:nvSpPr>
          <p:cNvPr id="105" name="Text 105"/>
          <p:cNvSpPr/>
          <p:nvPr/>
        </p:nvSpPr>
        <p:spPr>
          <a:xfrm>
            <a:off x="4181856" y="2468880"/>
            <a:ext cx="274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06" name="Shape 106"/>
          <p:cNvSpPr/>
          <p:nvPr/>
        </p:nvSpPr>
        <p:spPr>
          <a:xfrm>
            <a:off x="4456176" y="2468880"/>
            <a:ext cx="1633728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07" name="Text 107"/>
          <p:cNvSpPr/>
          <p:nvPr/>
        </p:nvSpPr>
        <p:spPr>
          <a:xfrm>
            <a:off x="4529328" y="2468880"/>
            <a:ext cx="14874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model.pkl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(saved model)</a:t>
            </a:r>
            <a:endParaRPr lang="en-US" sz="1150" dirty="0"/>
          </a:p>
        </p:txBody>
      </p:sp>
      <p:sp>
        <p:nvSpPr>
          <p:cNvPr id="108" name="Text 108"/>
          <p:cNvSpPr/>
          <p:nvPr/>
        </p:nvSpPr>
        <p:spPr>
          <a:xfrm>
            <a:off x="6089904" y="2468880"/>
            <a:ext cx="274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09" name="Shape 109"/>
          <p:cNvSpPr/>
          <p:nvPr/>
        </p:nvSpPr>
        <p:spPr>
          <a:xfrm>
            <a:off x="6364224" y="2468880"/>
            <a:ext cx="1633728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0" name="Text 110"/>
          <p:cNvSpPr/>
          <p:nvPr/>
        </p:nvSpPr>
        <p:spPr>
          <a:xfrm>
            <a:off x="6437376" y="2468880"/>
            <a:ext cx="14874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app.py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(Streamlit UI)</a:t>
            </a:r>
            <a:endParaRPr lang="en-US" sz="1150" dirty="0"/>
          </a:p>
        </p:txBody>
      </p:sp>
      <p:sp>
        <p:nvSpPr>
          <p:cNvPr id="111" name="Text 111"/>
          <p:cNvSpPr/>
          <p:nvPr/>
        </p:nvSpPr>
        <p:spPr>
          <a:xfrm>
            <a:off x="7997952" y="2468880"/>
            <a:ext cx="274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12" name="Shape 112"/>
          <p:cNvSpPr/>
          <p:nvPr/>
        </p:nvSpPr>
        <p:spPr>
          <a:xfrm>
            <a:off x="8272272" y="2468880"/>
            <a:ext cx="1633728" cy="1371600"/>
          </a:xfrm>
          <a:prstGeom prst="roundRect">
            <a:avLst>
              <a:gd name="adj" fmla="val 6667"/>
            </a:avLst>
          </a:prstGeom>
          <a:solidFill>
            <a:srgbClr val="F7F9FE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3" name="Text 113"/>
          <p:cNvSpPr/>
          <p:nvPr/>
        </p:nvSpPr>
        <p:spPr>
          <a:xfrm>
            <a:off x="8345424" y="2468880"/>
            <a:ext cx="14874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 Cloud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18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(public URL)</a:t>
            </a:r>
            <a:endParaRPr lang="en-US" sz="1150" dirty="0"/>
          </a:p>
        </p:txBody>
      </p:sp>
      <p:sp>
        <p:nvSpPr>
          <p:cNvPr id="114" name="Text 114"/>
          <p:cNvSpPr/>
          <p:nvPr/>
        </p:nvSpPr>
        <p:spPr>
          <a:xfrm>
            <a:off x="9906000" y="2468880"/>
            <a:ext cx="274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000" dirty="0"/>
          </a:p>
        </p:txBody>
      </p:sp>
      <p:sp>
        <p:nvSpPr>
          <p:cNvPr id="115" name="Shape 115"/>
          <p:cNvSpPr/>
          <p:nvPr/>
        </p:nvSpPr>
        <p:spPr>
          <a:xfrm>
            <a:off x="10180320" y="2468880"/>
            <a:ext cx="1633728" cy="1371600"/>
          </a:xfrm>
          <a:prstGeom prst="roundRect">
            <a:avLst>
              <a:gd name="adj" fmla="val 6667"/>
            </a:avLst>
          </a:prstGeom>
          <a:solidFill>
            <a:srgbClr val="3E7BFA"/>
          </a:solidFill>
          <a:ln w="12700">
            <a:solidFill>
              <a:srgbClr val="E2E8F5"/>
            </a:solidFill>
            <a:prstDash val="solid"/>
          </a:ln>
        </p:spPr>
      </p:sp>
      <p:sp>
        <p:nvSpPr>
          <p:cNvPr id="116" name="Text 116"/>
          <p:cNvSpPr/>
          <p:nvPr/>
        </p:nvSpPr>
        <p:spPr>
          <a:xfrm>
            <a:off x="10253472" y="2468880"/>
            <a:ext cx="14874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dashboard.xlsx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(Excel insights)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4709160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709160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505456" y="4709160"/>
            <a:ext cx="3273552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05456" y="4709160"/>
            <a:ext cx="3273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pandas / NumPy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80176" y="4709160"/>
            <a:ext cx="2871216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0176" y="4709160"/>
            <a:ext cx="2871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52560" y="4709160"/>
            <a:ext cx="2267712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52560" y="4709160"/>
            <a:ext cx="22677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5276088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5276088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Plotly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505456" y="5276088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05456" y="5276088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370832" y="5276088"/>
            <a:ext cx="4114800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70832" y="52760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Streamlit Community Cloud</a:t>
            </a:r>
            <a:endParaRPr lang="en-US" sz="1150" dirty="0"/>
          </a:p>
        </p:txBody>
      </p:sp>
      <p:sp>
        <p:nvSpPr>
          <p:cNvPr id="7" name="Shape 101"/>
          <p:cNvSpPr/>
          <p:nvPr/>
        </p:nvSpPr>
        <p:spPr>
          <a:xfrm>
            <a:off x="8686944" y="5276088"/>
            <a:ext cx="1310640" cy="438912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 w="9525">
            <a:solidFill>
              <a:srgbClr val="3E7BFA"/>
            </a:solidFill>
            <a:prstDash val="solid"/>
          </a:ln>
        </p:spPr>
      </p:sp>
      <p:sp>
        <p:nvSpPr>
          <p:cNvPr id="8" name="Text 102"/>
          <p:cNvSpPr/>
          <p:nvPr/>
        </p:nvSpPr>
        <p:spPr>
          <a:xfrm>
            <a:off x="8686944" y="5276088"/>
            <a:ext cx="131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Excel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0080" y="5852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workflow is simple and reproducible: train_model.py builds and saves the model once, app.py loads that model at runtime, and the whole folder is pushed to GitHub, where Streamlit Community Cloud deploys it as a public, no-login web app. A companion Excel dashboard mirrors the same insights for offline, spreadsheet-native sharing.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8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STORY BEHIND THE NUMBERS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quick-look dashboard — built entirely in Excel — summarizing the dataset: more rooms mean higher prices, lower-status neighborhoods trend lower, and homes on the Charles River carry a clear premium.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79" y="2011680"/>
            <a:ext cx="10905375" cy="41605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E2E8F5"/>
            </a:solidFill>
            <a:prstDash val="solid"/>
          </a:ln>
        </p:spPr>
      </p:sp>
      <p:pic>
        <p:nvPicPr>
          <p:cNvPr id="7" name="Image 0" descr="1786224059616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5855" y="2078182"/>
            <a:ext cx="10654145" cy="4002578"/>
          </a:xfrm>
          <a:prstGeom prst="rect">
            <a:avLst/>
          </a:prstGeom>
        </p:spPr>
      </p:pic>
      <p:sp>
        <p:nvSpPr>
          <p:cNvPr id="103" name="Shape 103"/>
          <p:cNvSpPr/>
          <p:nvPr/>
        </p:nvSpPr>
        <p:spPr>
          <a:xfrm>
            <a:off x="7778750" y="1846680"/>
            <a:ext cx="2560000" cy="356616"/>
          </a:xfrm>
          <a:prstGeom prst="roundRect">
            <a:avLst>
              <a:gd name="adj" fmla="val 50000"/>
            </a:avLst>
          </a:prstGeom>
          <a:solidFill>
            <a:srgbClr val="1D6F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4"/>
          <p:cNvSpPr/>
          <p:nvPr/>
        </p:nvSpPr>
        <p:spPr>
          <a:xfrm>
            <a:off x="7778750" y="1846680"/>
            <a:ext cx="25600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IN MS EXCEL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 — Presented By Moaz Riad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Boston Housing Price Predictor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7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IT YOURSELF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6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Everything above is live and open — explore the code, or make your own prediction.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834640"/>
            <a:ext cx="914400" cy="9144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6" name="Image 0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30540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WEB APP</a:t>
            </a:r>
            <a:endParaRPr lang="en-US" sz="130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2194560" y="310896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u="sng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bostonhouseprediction-xcvrykfektvw8acxuarrhq.streamlit.app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13724" y="4032504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051560" y="4389120"/>
            <a:ext cx="914400" cy="9144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1" name="Image 1" descr="icon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016" y="46085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94560" y="466344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3A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github.com/moaz-riad/boston-housing-predictor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194561" y="5264726"/>
            <a:ext cx="3033222" cy="148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Moaz Riad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6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1317</Words>
  <Application>Microsoft Office PowerPoint</Application>
  <PresentationFormat>Widescreen</PresentationFormat>
  <Paragraphs>201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2026-08-08T21:26:12Z</dcterms:created>
  <dcterms:modified xsi:type="dcterms:W3CDTF">2026-08-08T22:00:03Z</dcterms:modified>
</cp:coreProperties>
</file>